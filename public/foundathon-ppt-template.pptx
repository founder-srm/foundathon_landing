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8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960"/>
    <a:srgbClr val="626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6CF1A-BE58-049D-69D0-F93193CAF3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D2BD20-DE72-09C0-3B45-DEABF36D90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D7FA1-FA9D-3E42-501F-E658A2022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7AEF-9AF5-4CA0-9554-D9E5FCA03926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76FCB-43C3-8F46-7DF7-E92BE3832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928F0-696D-2D73-E7FE-B459EA567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721DF-291E-43C2-840F-3AF113FEA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185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7B6CE-D01E-C998-3ED3-C6109BCF5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F8DA4-A995-B7EE-F81A-4A66B2B23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E2105-96D7-DED3-8513-80B45D1DF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7AEF-9AF5-4CA0-9554-D9E5FCA03926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DEC51-25F0-E7FD-D5C1-AE83C2266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9C58E-F060-10E6-77C7-C9F7F4F4A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721DF-291E-43C2-840F-3AF113FEA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5339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DD096-EE8A-C7A2-9DF3-BEB47AABE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5BED07-EAD3-99F4-49F4-4CE92C0E76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0FE46-1E71-9892-4A77-39FD4B09D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7AEF-9AF5-4CA0-9554-D9E5FCA03926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4FB0A2-8804-2D67-1156-865C44363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7062B-64EE-562D-8525-6C8F8FFAE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721DF-291E-43C2-840F-3AF113FEA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3728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A0788-1478-333C-A827-916D35A34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CB102-3B18-F896-FC1E-D213EE00C3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D47053-8C0E-7663-13BE-DFBE3D91BF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CE8938-AD15-C909-F45F-1DEA79EAE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7AEF-9AF5-4CA0-9554-D9E5FCA03926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E09BBF-DA42-E424-E607-0449ABD4C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79F46D-CF23-95BD-C34F-05D6DF6DB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721DF-291E-43C2-840F-3AF113FEA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8829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5925F-E33D-F380-6113-C4903EE22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6B5DEC-6003-1401-DF01-209DBBF26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2A740-67C0-B2FD-9A5B-7F35C21CCD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941F87-03F6-B14F-9F76-DD3E5E4690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8FF9DA-3579-63F1-9CF6-361FCD12B4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284F4A-484E-C980-031F-859A616C9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7AEF-9AF5-4CA0-9554-D9E5FCA03926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C99567-04AE-B6DB-3806-F02F915B6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BC623D-E159-8B64-63A4-BC668CA2D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721DF-291E-43C2-840F-3AF113FEA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6551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9A0BA-E0CA-6A44-63F6-455C7FF14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4722B3-7139-1C39-3BA7-84966E68D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7AEF-9AF5-4CA0-9554-D9E5FCA03926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ACCA8F-CFBC-4CC3-66DD-826510A92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4DE3BB-740A-F571-6C15-B7AF0023E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721DF-291E-43C2-840F-3AF113FEA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8812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E1971E-9BF5-0BB3-A3E5-A4E2AC3B5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7AEF-9AF5-4CA0-9554-D9E5FCA03926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D60C39-D14B-7799-4963-4734907C0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2DAC1F-698E-3D43-711C-76911E22A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721DF-291E-43C2-840F-3AF113FEA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9665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F3D4D-1F73-8AD7-AE8C-321F8F90D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1C561-C31F-0FFC-9C9B-795249AFA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F16665-782C-BD03-2011-A64DFEF749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AFA6AC-DB4A-0A14-95D4-058D83184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7AEF-9AF5-4CA0-9554-D9E5FCA03926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4C927-0C04-EF6F-31A5-E97FE6DF6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1004D1-48E4-D13A-7E04-1E6986633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721DF-291E-43C2-840F-3AF113FEA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4470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00F73-1E22-7461-5F39-4CCE1CBE9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078FC5-82DA-7D73-E33C-912155A472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0F051C-CBEE-31FA-9E05-3EBB449961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D035BD-F213-FCB8-B678-441CA08D4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7AEF-9AF5-4CA0-9554-D9E5FCA03926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6F419C-8C3C-6CB9-11ED-BD896E842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C7EC92-50AF-5D45-6A6C-1DCEE1F39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721DF-291E-43C2-840F-3AF113FEA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953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F7F77-200C-F94B-D1E6-7C512A833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2B4D2F-5DF3-7EF1-6018-F2DDF6ED0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84E872-9388-6DAA-9BCF-CF2A6021A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7AEF-9AF5-4CA0-9554-D9E5FCA03926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0784A-CEAB-AEFC-1C1D-84BB422A7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512D4A-CB33-5AA0-56D1-3FCADF2B7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721DF-291E-43C2-840F-3AF113FEA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7002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ECA9CC-6DE0-B01B-9FB2-8E64204B72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1A8EF0-025E-3C25-FB29-1EFE807141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0D625-554F-51C6-D449-9A67D9433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7AEF-9AF5-4CA0-9554-D9E5FCA03926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3F18C-455B-F549-22D0-ECE3E5095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13DA6-A574-3BCC-C40B-2288846E0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721DF-291E-43C2-840F-3AF113FEA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7817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E9B1E4-90F4-253D-A3D1-96AC7A708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5EB552-9E22-E524-DAB6-DBC770DE6E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795172-5C83-9A73-4DE3-EF6EBE3858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C17AEF-9AF5-4CA0-9554-D9E5FCA03926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C5A65F-95C7-53F3-C609-7435655D06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86A68B-C7A7-ED48-65CB-A905AFE5FF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F721DF-291E-43C2-840F-3AF113FEA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408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6BE0881-705E-95E3-A4DB-FC925FA452B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E6F77AB-A4F6-2DF5-068E-DA98310F8925}"/>
              </a:ext>
            </a:extLst>
          </p:cNvPr>
          <p:cNvSpPr/>
          <p:nvPr/>
        </p:nvSpPr>
        <p:spPr>
          <a:xfrm>
            <a:off x="0" y="-24279"/>
            <a:ext cx="12203912" cy="6917557"/>
          </a:xfrm>
          <a:prstGeom prst="rect">
            <a:avLst/>
          </a:prstGeom>
          <a:solidFill>
            <a:schemeClr val="dk1">
              <a:alpha val="52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2C6C9C9-83BF-4A6C-A1BF-C1735C61B4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98705" y="0"/>
            <a:ext cx="7295477" cy="6853457"/>
          </a:xfrm>
          <a:custGeom>
            <a:avLst/>
            <a:gdLst>
              <a:gd name="connsiteX0" fmla="*/ 2113864 w 7295477"/>
              <a:gd name="connsiteY0" fmla="*/ 0 h 6853457"/>
              <a:gd name="connsiteX1" fmla="*/ 5731689 w 7295477"/>
              <a:gd name="connsiteY1" fmla="*/ 0 h 6853457"/>
              <a:gd name="connsiteX2" fmla="*/ 5792604 w 7295477"/>
              <a:gd name="connsiteY2" fmla="*/ 31199 h 6853457"/>
              <a:gd name="connsiteX3" fmla="*/ 7277638 w 7295477"/>
              <a:gd name="connsiteY3" fmla="*/ 1446415 h 6853457"/>
              <a:gd name="connsiteX4" fmla="*/ 7295477 w 7295477"/>
              <a:gd name="connsiteY4" fmla="*/ 1478103 h 6853457"/>
              <a:gd name="connsiteX5" fmla="*/ 7295477 w 7295477"/>
              <a:gd name="connsiteY5" fmla="*/ 5482224 h 6853457"/>
              <a:gd name="connsiteX6" fmla="*/ 7195301 w 7295477"/>
              <a:gd name="connsiteY6" fmla="*/ 5644337 h 6853457"/>
              <a:gd name="connsiteX7" fmla="*/ 5956878 w 7295477"/>
              <a:gd name="connsiteY7" fmla="*/ 6835380 h 6853457"/>
              <a:gd name="connsiteX8" fmla="*/ 5925438 w 7295477"/>
              <a:gd name="connsiteY8" fmla="*/ 6853457 h 6853457"/>
              <a:gd name="connsiteX9" fmla="*/ 1920114 w 7295477"/>
              <a:gd name="connsiteY9" fmla="*/ 6853457 h 6853457"/>
              <a:gd name="connsiteX10" fmla="*/ 1888674 w 7295477"/>
              <a:gd name="connsiteY10" fmla="*/ 6835380 h 6853457"/>
              <a:gd name="connsiteX11" fmla="*/ 0 w 7295477"/>
              <a:gd name="connsiteY11" fmla="*/ 3480517 h 6853457"/>
              <a:gd name="connsiteX12" fmla="*/ 2052949 w 7295477"/>
              <a:gd name="connsiteY12" fmla="*/ 31199 h 6853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295477" h="6853457">
                <a:moveTo>
                  <a:pt x="2113864" y="0"/>
                </a:moveTo>
                <a:lnTo>
                  <a:pt x="5731689" y="0"/>
                </a:lnTo>
                <a:lnTo>
                  <a:pt x="5792604" y="31199"/>
                </a:lnTo>
                <a:cubicBezTo>
                  <a:pt x="6404018" y="363339"/>
                  <a:pt x="6917255" y="853303"/>
                  <a:pt x="7277638" y="1446415"/>
                </a:cubicBezTo>
                <a:lnTo>
                  <a:pt x="7295477" y="1478103"/>
                </a:lnTo>
                <a:lnTo>
                  <a:pt x="7295477" y="5482224"/>
                </a:lnTo>
                <a:lnTo>
                  <a:pt x="7195301" y="5644337"/>
                </a:lnTo>
                <a:cubicBezTo>
                  <a:pt x="6875688" y="6126745"/>
                  <a:pt x="6452261" y="6534378"/>
                  <a:pt x="5956878" y="6835380"/>
                </a:cubicBezTo>
                <a:lnTo>
                  <a:pt x="5925438" y="6853457"/>
                </a:lnTo>
                <a:lnTo>
                  <a:pt x="1920114" y="6853457"/>
                </a:lnTo>
                <a:lnTo>
                  <a:pt x="1888674" y="6835380"/>
                </a:lnTo>
                <a:cubicBezTo>
                  <a:pt x="756370" y="6147375"/>
                  <a:pt x="0" y="4902276"/>
                  <a:pt x="0" y="3480517"/>
                </a:cubicBezTo>
                <a:cubicBezTo>
                  <a:pt x="0" y="1991056"/>
                  <a:pt x="830121" y="695479"/>
                  <a:pt x="2052949" y="31199"/>
                </a:cubicBezTo>
                <a:close/>
              </a:path>
            </a:pathLst>
          </a:custGeom>
          <a:solidFill>
            <a:schemeClr val="bg2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59423B-DB03-E615-EC19-4C16F091CE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829"/>
          <a:stretch>
            <a:fillRect/>
          </a:stretch>
        </p:blipFill>
        <p:spPr>
          <a:xfrm>
            <a:off x="6828777" y="-24279"/>
            <a:ext cx="7128913" cy="6853457"/>
          </a:xfrm>
          <a:custGeom>
            <a:avLst/>
            <a:gdLst/>
            <a:ahLst/>
            <a:cxnLst/>
            <a:rect l="l" t="t" r="r" b="b"/>
            <a:pathLst>
              <a:path w="7128913" h="6853457">
                <a:moveTo>
                  <a:pt x="2343548" y="0"/>
                </a:moveTo>
                <a:lnTo>
                  <a:pt x="5168877" y="0"/>
                </a:lnTo>
                <a:lnTo>
                  <a:pt x="5218299" y="19487"/>
                </a:lnTo>
                <a:cubicBezTo>
                  <a:pt x="5976640" y="340238"/>
                  <a:pt x="6607722" y="902948"/>
                  <a:pt x="7014769" y="1610837"/>
                </a:cubicBezTo>
                <a:lnTo>
                  <a:pt x="7128913" y="1827198"/>
                </a:lnTo>
                <a:lnTo>
                  <a:pt x="7128913" y="5131581"/>
                </a:lnTo>
                <a:lnTo>
                  <a:pt x="7091067" y="5210750"/>
                </a:lnTo>
                <a:cubicBezTo>
                  <a:pt x="6744936" y="5876527"/>
                  <a:pt x="6205281" y="6425584"/>
                  <a:pt x="5546646" y="6783375"/>
                </a:cubicBezTo>
                <a:lnTo>
                  <a:pt x="5409811" y="6853457"/>
                </a:lnTo>
                <a:lnTo>
                  <a:pt x="2102613" y="6853457"/>
                </a:lnTo>
                <a:lnTo>
                  <a:pt x="1965779" y="6783375"/>
                </a:lnTo>
                <a:cubicBezTo>
                  <a:pt x="794873" y="6147301"/>
                  <a:pt x="0" y="4906735"/>
                  <a:pt x="0" y="3480517"/>
                </a:cubicBezTo>
                <a:cubicBezTo>
                  <a:pt x="0" y="1924643"/>
                  <a:pt x="945964" y="589711"/>
                  <a:pt x="2294125" y="19487"/>
                </a:cubicBezTo>
                <a:close/>
              </a:path>
            </a:pathLst>
          </a:cu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45338C8-DA66-0B33-5E25-D919BAA2A606}"/>
              </a:ext>
            </a:extLst>
          </p:cNvPr>
          <p:cNvSpPr/>
          <p:nvPr/>
        </p:nvSpPr>
        <p:spPr>
          <a:xfrm>
            <a:off x="299485" y="4949359"/>
            <a:ext cx="5410200" cy="1731743"/>
          </a:xfrm>
          <a:prstGeom prst="roundRect">
            <a:avLst>
              <a:gd name="adj" fmla="val 20207"/>
            </a:avLst>
          </a:prstGeom>
          <a:solidFill>
            <a:schemeClr val="bg1"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B01DCE-6961-D73E-1399-957151238950}"/>
              </a:ext>
            </a:extLst>
          </p:cNvPr>
          <p:cNvSpPr txBox="1"/>
          <p:nvPr/>
        </p:nvSpPr>
        <p:spPr>
          <a:xfrm>
            <a:off x="581937" y="5168899"/>
            <a:ext cx="472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DETAILS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C812EC0-FD66-B4EA-2E61-FAC24596C1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3448"/>
            <a:ext cx="1776879" cy="1776879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D2CE520D-E99E-64E7-0AF6-93FD2B446C86}"/>
              </a:ext>
            </a:extLst>
          </p:cNvPr>
          <p:cNvGrpSpPr/>
          <p:nvPr/>
        </p:nvGrpSpPr>
        <p:grpSpPr>
          <a:xfrm>
            <a:off x="8382599" y="249789"/>
            <a:ext cx="2410708" cy="1210407"/>
            <a:chOff x="3711463" y="624563"/>
            <a:chExt cx="2283645" cy="1141823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FF38042-4B68-6A62-A397-B60063A8D8C3}"/>
                </a:ext>
              </a:extLst>
            </p:cNvPr>
            <p:cNvSpPr/>
            <p:nvPr/>
          </p:nvSpPr>
          <p:spPr>
            <a:xfrm>
              <a:off x="4305299" y="635000"/>
              <a:ext cx="1080000" cy="10800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04CD9D9F-2577-7B51-D14E-6DB72E8DAA5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11463" y="624563"/>
              <a:ext cx="2283645" cy="1141823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D02C34C-A94C-C966-0F44-69CE1B10F44B}"/>
              </a:ext>
            </a:extLst>
          </p:cNvPr>
          <p:cNvSpPr txBox="1"/>
          <p:nvPr/>
        </p:nvSpPr>
        <p:spPr>
          <a:xfrm>
            <a:off x="3648075" y="3225284"/>
            <a:ext cx="7296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9F08DEE-9FC0-850F-F8F1-E7E3A48EE6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2732" y="-1103106"/>
            <a:ext cx="3872787" cy="387278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2BE5E4F-B16F-1C13-EB00-4E66BC524B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503" y="2012747"/>
            <a:ext cx="8184018" cy="9847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C34BE5E-1432-F218-585A-1DF87151A64E}"/>
              </a:ext>
            </a:extLst>
          </p:cNvPr>
          <p:cNvSpPr txBox="1"/>
          <p:nvPr/>
        </p:nvSpPr>
        <p:spPr>
          <a:xfrm>
            <a:off x="155503" y="3788117"/>
            <a:ext cx="73013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NAME </a:t>
            </a:r>
          </a:p>
        </p:txBody>
      </p:sp>
    </p:spTree>
    <p:extLst>
      <p:ext uri="{BB962C8B-B14F-4D97-AF65-F5344CB8AC3E}">
        <p14:creationId xmlns:p14="http://schemas.microsoft.com/office/powerpoint/2010/main" val="2171229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28E60C-A52A-5945-EA88-9E73ED95B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5606AE4-A7BB-3AA5-ED5B-8B318C141EA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3B60287-4ACA-7F9B-1859-BBEDFACFF377}"/>
              </a:ext>
            </a:extLst>
          </p:cNvPr>
          <p:cNvSpPr/>
          <p:nvPr/>
        </p:nvSpPr>
        <p:spPr>
          <a:xfrm>
            <a:off x="0" y="-24279"/>
            <a:ext cx="12203912" cy="6917557"/>
          </a:xfrm>
          <a:prstGeom prst="rect">
            <a:avLst/>
          </a:prstGeom>
          <a:solidFill>
            <a:schemeClr val="dk1">
              <a:alpha val="88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FAD61A7-C28A-8ACF-89D5-5FE494A925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829"/>
          <a:stretch>
            <a:fillRect/>
          </a:stretch>
        </p:blipFill>
        <p:spPr>
          <a:xfrm>
            <a:off x="9386474" y="3295650"/>
            <a:ext cx="3717037" cy="3573414"/>
          </a:xfrm>
          <a:custGeom>
            <a:avLst/>
            <a:gdLst/>
            <a:ahLst/>
            <a:cxnLst/>
            <a:rect l="l" t="t" r="r" b="b"/>
            <a:pathLst>
              <a:path w="7128913" h="6853457">
                <a:moveTo>
                  <a:pt x="2343548" y="0"/>
                </a:moveTo>
                <a:lnTo>
                  <a:pt x="5168877" y="0"/>
                </a:lnTo>
                <a:lnTo>
                  <a:pt x="5218299" y="19487"/>
                </a:lnTo>
                <a:cubicBezTo>
                  <a:pt x="5976640" y="340238"/>
                  <a:pt x="6607722" y="902948"/>
                  <a:pt x="7014769" y="1610837"/>
                </a:cubicBezTo>
                <a:lnTo>
                  <a:pt x="7128913" y="1827198"/>
                </a:lnTo>
                <a:lnTo>
                  <a:pt x="7128913" y="5131581"/>
                </a:lnTo>
                <a:lnTo>
                  <a:pt x="7091067" y="5210750"/>
                </a:lnTo>
                <a:cubicBezTo>
                  <a:pt x="6744936" y="5876527"/>
                  <a:pt x="6205281" y="6425584"/>
                  <a:pt x="5546646" y="6783375"/>
                </a:cubicBezTo>
                <a:lnTo>
                  <a:pt x="5409811" y="6853457"/>
                </a:lnTo>
                <a:lnTo>
                  <a:pt x="2102613" y="6853457"/>
                </a:lnTo>
                <a:lnTo>
                  <a:pt x="1965779" y="6783375"/>
                </a:lnTo>
                <a:cubicBezTo>
                  <a:pt x="794873" y="6147301"/>
                  <a:pt x="0" y="4906735"/>
                  <a:pt x="0" y="3480517"/>
                </a:cubicBezTo>
                <a:cubicBezTo>
                  <a:pt x="0" y="1924643"/>
                  <a:pt x="945964" y="589711"/>
                  <a:pt x="2294125" y="19487"/>
                </a:cubicBezTo>
                <a:close/>
              </a:path>
            </a:pathLst>
          </a:cu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75A26E9-DC4C-4B2A-498A-E141C0D1A0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891" y="-146232"/>
            <a:ext cx="1697612" cy="1589292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3247229C-75BC-BD55-7256-8FC30C763FF3}"/>
              </a:ext>
            </a:extLst>
          </p:cNvPr>
          <p:cNvGrpSpPr/>
          <p:nvPr/>
        </p:nvGrpSpPr>
        <p:grpSpPr>
          <a:xfrm>
            <a:off x="8529348" y="192878"/>
            <a:ext cx="1972398" cy="991732"/>
            <a:chOff x="3711463" y="624563"/>
            <a:chExt cx="2283645" cy="1141823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60DD92D-57A8-80EA-BEE5-8C79CBFA3D57}"/>
                </a:ext>
              </a:extLst>
            </p:cNvPr>
            <p:cNvSpPr/>
            <p:nvPr/>
          </p:nvSpPr>
          <p:spPr>
            <a:xfrm>
              <a:off x="4305299" y="635000"/>
              <a:ext cx="1080000" cy="10800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B40D0D85-0594-6E89-F9DB-465C0146494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11463" y="624563"/>
              <a:ext cx="2283645" cy="1141823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E0B43C4-5B6E-1B1B-7922-3F3ECB0E13CC}"/>
              </a:ext>
            </a:extLst>
          </p:cNvPr>
          <p:cNvSpPr txBox="1"/>
          <p:nvPr/>
        </p:nvSpPr>
        <p:spPr>
          <a:xfrm>
            <a:off x="420255" y="1752600"/>
            <a:ext cx="9398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>
                <a:solidFill>
                  <a:srgbClr val="FFFFFF"/>
                </a:solidFill>
                <a:latin typeface="Avenir Next LT Pro" panose="020B0504020202020204" pitchFamily="34" charset="0"/>
                <a:ea typeface="Cambria" panose="02040503050406030204" pitchFamily="18" charset="0"/>
                <a:cs typeface="Cavolini" panose="020B0502040204020203" pitchFamily="66" charset="0"/>
              </a:rPr>
              <a:t>Problem</a:t>
            </a:r>
            <a:r>
              <a:rPr lang="en-IN" sz="4400" b="1" dirty="0">
                <a:solidFill>
                  <a:srgbClr val="FFFFFF"/>
                </a:solidFill>
                <a:latin typeface="Avenir Next LT Pro" panose="020B05040202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 Statement Selected</a:t>
            </a:r>
            <a:endParaRPr lang="en-IN" sz="4400" dirty="0">
              <a:effectLst/>
              <a:latin typeface="Avenir Next LT Pro" panose="020B0504020202020204" pitchFamily="34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0D07A7-84FA-2D42-13A1-DC461415F075}"/>
              </a:ext>
            </a:extLst>
          </p:cNvPr>
          <p:cNvSpPr txBox="1"/>
          <p:nvPr/>
        </p:nvSpPr>
        <p:spPr>
          <a:xfrm>
            <a:off x="420255" y="2794251"/>
            <a:ext cx="53247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Mention the exact problem statement</a:t>
            </a:r>
          </a:p>
          <a:p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did your team choose this problem?</a:t>
            </a:r>
          </a:p>
          <a:p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attracted you to it?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7944C67-177B-D400-3303-9886F58160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5562" y="255177"/>
            <a:ext cx="7158477" cy="8613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B24420E-6D36-81A3-DD0D-1B28D630160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4340" y="-1250548"/>
            <a:ext cx="3872787" cy="387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772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71AF33-9A6A-BEC2-BC7F-5BF6D2130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9C4F442-3077-BD93-F51D-FC71EF1A92E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1A01B83-49E1-E529-BA73-344F4E7C9F7A}"/>
              </a:ext>
            </a:extLst>
          </p:cNvPr>
          <p:cNvSpPr/>
          <p:nvPr/>
        </p:nvSpPr>
        <p:spPr>
          <a:xfrm>
            <a:off x="0" y="-24279"/>
            <a:ext cx="12203912" cy="6917557"/>
          </a:xfrm>
          <a:prstGeom prst="rect">
            <a:avLst/>
          </a:prstGeom>
          <a:solidFill>
            <a:schemeClr val="dk1">
              <a:alpha val="88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9A60DD-E992-3A79-746C-BEC1EF0A7A60}"/>
              </a:ext>
            </a:extLst>
          </p:cNvPr>
          <p:cNvSpPr txBox="1"/>
          <p:nvPr/>
        </p:nvSpPr>
        <p:spPr>
          <a:xfrm>
            <a:off x="420255" y="1680228"/>
            <a:ext cx="668398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solidFill>
                  <a:srgbClr val="FFFFFF"/>
                </a:solidFill>
                <a:latin typeface="Avenir Next LT Pro" panose="020B0504020202020204" pitchFamily="34" charset="0"/>
                <a:ea typeface="KaiTi" panose="020B0503020204020204" pitchFamily="49" charset="-122"/>
              </a:rPr>
              <a:t>Problem Understanding</a:t>
            </a:r>
            <a:endParaRPr lang="en-IN" sz="4400" dirty="0">
              <a:effectLst/>
              <a:latin typeface="Avenir Next LT Pro" panose="020B0504020202020204" pitchFamily="34" charset="0"/>
              <a:ea typeface="KaiTi" panose="020B0503020204020204" pitchFamily="49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A7192C-6450-FC3C-E438-F98459A27E45}"/>
              </a:ext>
            </a:extLst>
          </p:cNvPr>
          <p:cNvSpPr txBox="1"/>
          <p:nvPr/>
        </p:nvSpPr>
        <p:spPr>
          <a:xfrm>
            <a:off x="420255" y="2794251"/>
            <a:ext cx="53247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the problem?</a:t>
            </a:r>
          </a:p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 the problem in your own words</a:t>
            </a:r>
          </a:p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happening currently?</a:t>
            </a:r>
          </a:p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is this important?</a:t>
            </a:r>
            <a:endParaRPr lang="en-IN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E42A90-1672-0730-A463-78C3F059EC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829"/>
          <a:stretch>
            <a:fillRect/>
          </a:stretch>
        </p:blipFill>
        <p:spPr>
          <a:xfrm>
            <a:off x="9386474" y="3295650"/>
            <a:ext cx="3717037" cy="3573414"/>
          </a:xfrm>
          <a:custGeom>
            <a:avLst/>
            <a:gdLst/>
            <a:ahLst/>
            <a:cxnLst/>
            <a:rect l="l" t="t" r="r" b="b"/>
            <a:pathLst>
              <a:path w="7128913" h="6853457">
                <a:moveTo>
                  <a:pt x="2343548" y="0"/>
                </a:moveTo>
                <a:lnTo>
                  <a:pt x="5168877" y="0"/>
                </a:lnTo>
                <a:lnTo>
                  <a:pt x="5218299" y="19487"/>
                </a:lnTo>
                <a:cubicBezTo>
                  <a:pt x="5976640" y="340238"/>
                  <a:pt x="6607722" y="902948"/>
                  <a:pt x="7014769" y="1610837"/>
                </a:cubicBezTo>
                <a:lnTo>
                  <a:pt x="7128913" y="1827198"/>
                </a:lnTo>
                <a:lnTo>
                  <a:pt x="7128913" y="5131581"/>
                </a:lnTo>
                <a:lnTo>
                  <a:pt x="7091067" y="5210750"/>
                </a:lnTo>
                <a:cubicBezTo>
                  <a:pt x="6744936" y="5876527"/>
                  <a:pt x="6205281" y="6425584"/>
                  <a:pt x="5546646" y="6783375"/>
                </a:cubicBezTo>
                <a:lnTo>
                  <a:pt x="5409811" y="6853457"/>
                </a:lnTo>
                <a:lnTo>
                  <a:pt x="2102613" y="6853457"/>
                </a:lnTo>
                <a:lnTo>
                  <a:pt x="1965779" y="6783375"/>
                </a:lnTo>
                <a:cubicBezTo>
                  <a:pt x="794873" y="6147301"/>
                  <a:pt x="0" y="4906735"/>
                  <a:pt x="0" y="3480517"/>
                </a:cubicBezTo>
                <a:cubicBezTo>
                  <a:pt x="0" y="1924643"/>
                  <a:pt x="945964" y="589711"/>
                  <a:pt x="2294125" y="19487"/>
                </a:cubicBezTo>
                <a:close/>
              </a:path>
            </a:pathLst>
          </a:cu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9C0079D-9018-C65F-3410-3BB9A152B7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891" y="-136996"/>
            <a:ext cx="1697612" cy="1589292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AC16BBA3-2DCD-43B8-9A5F-09EE78874445}"/>
              </a:ext>
            </a:extLst>
          </p:cNvPr>
          <p:cNvGrpSpPr/>
          <p:nvPr/>
        </p:nvGrpSpPr>
        <p:grpSpPr>
          <a:xfrm>
            <a:off x="8529348" y="202114"/>
            <a:ext cx="1972398" cy="991732"/>
            <a:chOff x="3711463" y="624563"/>
            <a:chExt cx="2283645" cy="1141823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9604891-1595-DF0C-1A41-D002D7CBBD09}"/>
                </a:ext>
              </a:extLst>
            </p:cNvPr>
            <p:cNvSpPr/>
            <p:nvPr/>
          </p:nvSpPr>
          <p:spPr>
            <a:xfrm>
              <a:off x="4305299" y="635000"/>
              <a:ext cx="1080000" cy="10800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9AF26E1-255C-1603-CEF4-3A3C196E194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11463" y="624563"/>
              <a:ext cx="2283645" cy="1141823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AB9BEB50-CFBF-F87F-A45F-E611462F2B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5562" y="264413"/>
            <a:ext cx="7158477" cy="86133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2FB0994-2B9E-B9A6-DBEE-A8734CD06AD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4340" y="-1278744"/>
            <a:ext cx="3872787" cy="387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716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E321E2-93D6-4BC0-A25E-40B51F96D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3900AB7-F4E5-4E81-76C6-53E58AAE886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A03A3F4-469A-D764-B415-C04C89235211}"/>
              </a:ext>
            </a:extLst>
          </p:cNvPr>
          <p:cNvSpPr/>
          <p:nvPr/>
        </p:nvSpPr>
        <p:spPr>
          <a:xfrm>
            <a:off x="0" y="-24279"/>
            <a:ext cx="12203912" cy="6917557"/>
          </a:xfrm>
          <a:prstGeom prst="rect">
            <a:avLst/>
          </a:prstGeom>
          <a:solidFill>
            <a:schemeClr val="dk1">
              <a:alpha val="88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A00BC6-787F-BC51-6DF5-02177975E304}"/>
              </a:ext>
            </a:extLst>
          </p:cNvPr>
          <p:cNvSpPr txBox="1"/>
          <p:nvPr/>
        </p:nvSpPr>
        <p:spPr>
          <a:xfrm>
            <a:off x="420255" y="1818471"/>
            <a:ext cx="573148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solidFill>
                  <a:srgbClr val="FFFFFF"/>
                </a:solidFill>
                <a:latin typeface="Avenir Next LT Pro" panose="020B0504020202020204" pitchFamily="34" charset="0"/>
                <a:ea typeface="KaiTi" panose="020B0503020204020204" pitchFamily="49" charset="-122"/>
              </a:rPr>
              <a:t>Root Cause Analysis</a:t>
            </a:r>
            <a:endParaRPr lang="en-IN" sz="4400" dirty="0">
              <a:effectLst/>
              <a:latin typeface="Avenir Next LT Pro" panose="020B0504020202020204" pitchFamily="34" charset="0"/>
              <a:ea typeface="KaiTi" panose="020B0503020204020204" pitchFamily="49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43DA57-ABE0-C2F5-18FC-F0D8A0A68C95}"/>
              </a:ext>
            </a:extLst>
          </p:cNvPr>
          <p:cNvSpPr txBox="1"/>
          <p:nvPr/>
        </p:nvSpPr>
        <p:spPr>
          <a:xfrm>
            <a:off x="420255" y="2794251"/>
            <a:ext cx="53247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does this problem exist?</a:t>
            </a:r>
          </a:p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underlying causes?</a:t>
            </a:r>
          </a:p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this a technical, operational, or behavioral issue?</a:t>
            </a:r>
          </a:p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factors contribute to it?</a:t>
            </a:r>
            <a:endParaRPr lang="en-IN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602061-3DBC-65E4-49FD-5030D86405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829"/>
          <a:stretch>
            <a:fillRect/>
          </a:stretch>
        </p:blipFill>
        <p:spPr>
          <a:xfrm>
            <a:off x="9386474" y="3295650"/>
            <a:ext cx="3717037" cy="3573414"/>
          </a:xfrm>
          <a:custGeom>
            <a:avLst/>
            <a:gdLst/>
            <a:ahLst/>
            <a:cxnLst/>
            <a:rect l="l" t="t" r="r" b="b"/>
            <a:pathLst>
              <a:path w="7128913" h="6853457">
                <a:moveTo>
                  <a:pt x="2343548" y="0"/>
                </a:moveTo>
                <a:lnTo>
                  <a:pt x="5168877" y="0"/>
                </a:lnTo>
                <a:lnTo>
                  <a:pt x="5218299" y="19487"/>
                </a:lnTo>
                <a:cubicBezTo>
                  <a:pt x="5976640" y="340238"/>
                  <a:pt x="6607722" y="902948"/>
                  <a:pt x="7014769" y="1610837"/>
                </a:cubicBezTo>
                <a:lnTo>
                  <a:pt x="7128913" y="1827198"/>
                </a:lnTo>
                <a:lnTo>
                  <a:pt x="7128913" y="5131581"/>
                </a:lnTo>
                <a:lnTo>
                  <a:pt x="7091067" y="5210750"/>
                </a:lnTo>
                <a:cubicBezTo>
                  <a:pt x="6744936" y="5876527"/>
                  <a:pt x="6205281" y="6425584"/>
                  <a:pt x="5546646" y="6783375"/>
                </a:cubicBezTo>
                <a:lnTo>
                  <a:pt x="5409811" y="6853457"/>
                </a:lnTo>
                <a:lnTo>
                  <a:pt x="2102613" y="6853457"/>
                </a:lnTo>
                <a:lnTo>
                  <a:pt x="1965779" y="6783375"/>
                </a:lnTo>
                <a:cubicBezTo>
                  <a:pt x="794873" y="6147301"/>
                  <a:pt x="0" y="4906735"/>
                  <a:pt x="0" y="3480517"/>
                </a:cubicBezTo>
                <a:cubicBezTo>
                  <a:pt x="0" y="1924643"/>
                  <a:pt x="945964" y="589711"/>
                  <a:pt x="2294125" y="19487"/>
                </a:cubicBezTo>
                <a:close/>
              </a:path>
            </a:pathLst>
          </a:cu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1F1581-AC47-570E-E70E-516FDEC3C8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891" y="-146232"/>
            <a:ext cx="1697612" cy="1589292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221DAA3E-FC9B-AB46-A556-D2735BFCBBEF}"/>
              </a:ext>
            </a:extLst>
          </p:cNvPr>
          <p:cNvGrpSpPr/>
          <p:nvPr/>
        </p:nvGrpSpPr>
        <p:grpSpPr>
          <a:xfrm>
            <a:off x="8529348" y="192878"/>
            <a:ext cx="1972398" cy="991732"/>
            <a:chOff x="3711463" y="624563"/>
            <a:chExt cx="2283645" cy="1141823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3084C07-79E4-FFD7-1AA0-E81C83C8D632}"/>
                </a:ext>
              </a:extLst>
            </p:cNvPr>
            <p:cNvSpPr/>
            <p:nvPr/>
          </p:nvSpPr>
          <p:spPr>
            <a:xfrm>
              <a:off x="4305299" y="635000"/>
              <a:ext cx="1080000" cy="10800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63B68BE-7B53-2344-3B1B-DBC83F461F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11463" y="624563"/>
              <a:ext cx="2283645" cy="1141823"/>
            </a:xfrm>
            <a:prstGeom prst="rect">
              <a:avLst/>
            </a:prstGeom>
          </p:spPr>
        </p:pic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BED1B387-DDC0-B667-E9E7-810756199E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5562" y="255177"/>
            <a:ext cx="7158477" cy="86133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543EF54-C7CB-E026-E34C-9FFC51FE02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4340" y="-1250548"/>
            <a:ext cx="3872787" cy="387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996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2BD6B8-4B4F-0C30-F54D-17BB371AE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CBCCDB3-5019-D079-9314-EB0B0DEC0FA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F7BE6E2-74B9-6123-1F29-F5C0006B0CFB}"/>
              </a:ext>
            </a:extLst>
          </p:cNvPr>
          <p:cNvSpPr/>
          <p:nvPr/>
        </p:nvSpPr>
        <p:spPr>
          <a:xfrm>
            <a:off x="0" y="-24279"/>
            <a:ext cx="12203912" cy="6917557"/>
          </a:xfrm>
          <a:prstGeom prst="rect">
            <a:avLst/>
          </a:prstGeom>
          <a:solidFill>
            <a:schemeClr val="dk1">
              <a:alpha val="88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C92882-F591-0DFE-406D-1123013D699E}"/>
              </a:ext>
            </a:extLst>
          </p:cNvPr>
          <p:cNvSpPr txBox="1"/>
          <p:nvPr/>
        </p:nvSpPr>
        <p:spPr>
          <a:xfrm>
            <a:off x="420255" y="1818471"/>
            <a:ext cx="800937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solidFill>
                  <a:srgbClr val="FFFFFF"/>
                </a:solidFill>
                <a:latin typeface="Avenir Next LT Pro" panose="020B0504020202020204" pitchFamily="34" charset="0"/>
                <a:ea typeface="KaiTi" panose="020B0503020204020204" pitchFamily="49" charset="-122"/>
              </a:rPr>
              <a:t>Target Users &amp; Stakeholders</a:t>
            </a:r>
            <a:endParaRPr lang="en-IN" sz="4400" dirty="0">
              <a:effectLst/>
              <a:latin typeface="Avenir Next LT Pro" panose="020B0504020202020204" pitchFamily="34" charset="0"/>
              <a:ea typeface="KaiTi" panose="020B0503020204020204" pitchFamily="49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C7A4C2-9CE0-CEFE-6BC4-FAE70CA6F0CC}"/>
              </a:ext>
            </a:extLst>
          </p:cNvPr>
          <p:cNvSpPr txBox="1"/>
          <p:nvPr/>
        </p:nvSpPr>
        <p:spPr>
          <a:xfrm>
            <a:off x="420255" y="2794251"/>
            <a:ext cx="53247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Who is directly affected?</a:t>
            </a:r>
          </a:p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Who indirectly benefits from solving it?</a:t>
            </a:r>
          </a:p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are their pain points?</a:t>
            </a:r>
          </a:p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frequently do they face this problem?</a:t>
            </a:r>
            <a:endParaRPr lang="en-IN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9BFC83-24B3-EECA-AF09-4B04B37D35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829"/>
          <a:stretch>
            <a:fillRect/>
          </a:stretch>
        </p:blipFill>
        <p:spPr>
          <a:xfrm>
            <a:off x="9386474" y="3295650"/>
            <a:ext cx="3717037" cy="3573414"/>
          </a:xfrm>
          <a:custGeom>
            <a:avLst/>
            <a:gdLst/>
            <a:ahLst/>
            <a:cxnLst/>
            <a:rect l="l" t="t" r="r" b="b"/>
            <a:pathLst>
              <a:path w="7128913" h="6853457">
                <a:moveTo>
                  <a:pt x="2343548" y="0"/>
                </a:moveTo>
                <a:lnTo>
                  <a:pt x="5168877" y="0"/>
                </a:lnTo>
                <a:lnTo>
                  <a:pt x="5218299" y="19487"/>
                </a:lnTo>
                <a:cubicBezTo>
                  <a:pt x="5976640" y="340238"/>
                  <a:pt x="6607722" y="902948"/>
                  <a:pt x="7014769" y="1610837"/>
                </a:cubicBezTo>
                <a:lnTo>
                  <a:pt x="7128913" y="1827198"/>
                </a:lnTo>
                <a:lnTo>
                  <a:pt x="7128913" y="5131581"/>
                </a:lnTo>
                <a:lnTo>
                  <a:pt x="7091067" y="5210750"/>
                </a:lnTo>
                <a:cubicBezTo>
                  <a:pt x="6744936" y="5876527"/>
                  <a:pt x="6205281" y="6425584"/>
                  <a:pt x="5546646" y="6783375"/>
                </a:cubicBezTo>
                <a:lnTo>
                  <a:pt x="5409811" y="6853457"/>
                </a:lnTo>
                <a:lnTo>
                  <a:pt x="2102613" y="6853457"/>
                </a:lnTo>
                <a:lnTo>
                  <a:pt x="1965779" y="6783375"/>
                </a:lnTo>
                <a:cubicBezTo>
                  <a:pt x="794873" y="6147301"/>
                  <a:pt x="0" y="4906735"/>
                  <a:pt x="0" y="3480517"/>
                </a:cubicBezTo>
                <a:cubicBezTo>
                  <a:pt x="0" y="1924643"/>
                  <a:pt x="945964" y="589711"/>
                  <a:pt x="2294125" y="19487"/>
                </a:cubicBezTo>
                <a:close/>
              </a:path>
            </a:pathLst>
          </a:cu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96A0D7-8054-BF8F-ABF7-61A869C51C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891" y="-146232"/>
            <a:ext cx="1697612" cy="1589292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25523DE1-B051-5AA7-139E-D3C8A9943683}"/>
              </a:ext>
            </a:extLst>
          </p:cNvPr>
          <p:cNvGrpSpPr/>
          <p:nvPr/>
        </p:nvGrpSpPr>
        <p:grpSpPr>
          <a:xfrm>
            <a:off x="8529348" y="192878"/>
            <a:ext cx="1972398" cy="991732"/>
            <a:chOff x="3711463" y="624563"/>
            <a:chExt cx="2283645" cy="1141823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F584DEE-34DD-8A3F-0505-CCE4A9B2A359}"/>
                </a:ext>
              </a:extLst>
            </p:cNvPr>
            <p:cNvSpPr/>
            <p:nvPr/>
          </p:nvSpPr>
          <p:spPr>
            <a:xfrm>
              <a:off x="4305299" y="635000"/>
              <a:ext cx="1080000" cy="10800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66DADCA-16B1-9DE2-F5D3-391ED5A2196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11463" y="624563"/>
              <a:ext cx="2283645" cy="1141823"/>
            </a:xfrm>
            <a:prstGeom prst="rect">
              <a:avLst/>
            </a:prstGeom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7DCF8C72-DE44-BEC6-ACBA-D66D982A00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5562" y="255177"/>
            <a:ext cx="7158477" cy="8613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5655209-28B1-8237-54FF-C675919E7A9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4340" y="-1265433"/>
            <a:ext cx="3872787" cy="387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092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83FBFE-6260-A615-0FAE-CD55AF152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7321053-BDC5-8DDF-6A93-2997CD25127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1962398-6A9E-A064-DFBD-3EDF572AAFD2}"/>
              </a:ext>
            </a:extLst>
          </p:cNvPr>
          <p:cNvSpPr/>
          <p:nvPr/>
        </p:nvSpPr>
        <p:spPr>
          <a:xfrm>
            <a:off x="0" y="-24279"/>
            <a:ext cx="12203912" cy="6917557"/>
          </a:xfrm>
          <a:prstGeom prst="rect">
            <a:avLst/>
          </a:prstGeom>
          <a:solidFill>
            <a:schemeClr val="dk1">
              <a:alpha val="88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C71E95-631F-CF90-499A-6E291393FC81}"/>
              </a:ext>
            </a:extLst>
          </p:cNvPr>
          <p:cNvSpPr txBox="1"/>
          <p:nvPr/>
        </p:nvSpPr>
        <p:spPr>
          <a:xfrm>
            <a:off x="470842" y="1827728"/>
            <a:ext cx="721995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>
                <a:solidFill>
                  <a:srgbClr val="FFFFFF"/>
                </a:solidFill>
                <a:latin typeface="Avenir Next LT Pro" panose="020B0504020202020204" pitchFamily="34" charset="0"/>
                <a:ea typeface="KaiTi" panose="020B0503020204020204" pitchFamily="49" charset="-122"/>
              </a:rPr>
              <a:t>Existing Solutions &amp; Gaps</a:t>
            </a:r>
            <a:endParaRPr lang="en-IN" sz="4400" dirty="0">
              <a:effectLst/>
              <a:latin typeface="Avenir Next LT Pro" panose="020B0504020202020204" pitchFamily="34" charset="0"/>
              <a:ea typeface="KaiTi" panose="020B0503020204020204" pitchFamily="49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228F99-51C8-1B34-4FB8-691397B984F8}"/>
              </a:ext>
            </a:extLst>
          </p:cNvPr>
          <p:cNvSpPr txBox="1"/>
          <p:nvPr/>
        </p:nvSpPr>
        <p:spPr>
          <a:xfrm>
            <a:off x="420255" y="2794251"/>
            <a:ext cx="53247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there any current solutions?</a:t>
            </a:r>
          </a:p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do they work?</a:t>
            </a:r>
          </a:p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are their limitations?</a:t>
            </a:r>
          </a:p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is there still a need for improvement?</a:t>
            </a:r>
            <a:endParaRPr lang="en-IN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901533-7BB0-AAE9-E344-7FFF981828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829"/>
          <a:stretch>
            <a:fillRect/>
          </a:stretch>
        </p:blipFill>
        <p:spPr>
          <a:xfrm>
            <a:off x="9386474" y="3295650"/>
            <a:ext cx="3717037" cy="3573414"/>
          </a:xfrm>
          <a:custGeom>
            <a:avLst/>
            <a:gdLst/>
            <a:ahLst/>
            <a:cxnLst/>
            <a:rect l="l" t="t" r="r" b="b"/>
            <a:pathLst>
              <a:path w="7128913" h="6853457">
                <a:moveTo>
                  <a:pt x="2343548" y="0"/>
                </a:moveTo>
                <a:lnTo>
                  <a:pt x="5168877" y="0"/>
                </a:lnTo>
                <a:lnTo>
                  <a:pt x="5218299" y="19487"/>
                </a:lnTo>
                <a:cubicBezTo>
                  <a:pt x="5976640" y="340238"/>
                  <a:pt x="6607722" y="902948"/>
                  <a:pt x="7014769" y="1610837"/>
                </a:cubicBezTo>
                <a:lnTo>
                  <a:pt x="7128913" y="1827198"/>
                </a:lnTo>
                <a:lnTo>
                  <a:pt x="7128913" y="5131581"/>
                </a:lnTo>
                <a:lnTo>
                  <a:pt x="7091067" y="5210750"/>
                </a:lnTo>
                <a:cubicBezTo>
                  <a:pt x="6744936" y="5876527"/>
                  <a:pt x="6205281" y="6425584"/>
                  <a:pt x="5546646" y="6783375"/>
                </a:cubicBezTo>
                <a:lnTo>
                  <a:pt x="5409811" y="6853457"/>
                </a:lnTo>
                <a:lnTo>
                  <a:pt x="2102613" y="6853457"/>
                </a:lnTo>
                <a:lnTo>
                  <a:pt x="1965779" y="6783375"/>
                </a:lnTo>
                <a:cubicBezTo>
                  <a:pt x="794873" y="6147301"/>
                  <a:pt x="0" y="4906735"/>
                  <a:pt x="0" y="3480517"/>
                </a:cubicBezTo>
                <a:cubicBezTo>
                  <a:pt x="0" y="1924643"/>
                  <a:pt x="945964" y="589711"/>
                  <a:pt x="2294125" y="19487"/>
                </a:cubicBezTo>
                <a:close/>
              </a:path>
            </a:pathLst>
          </a:cu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668C40A-609D-86CD-E19A-D570A25FE2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891" y="-146232"/>
            <a:ext cx="1697612" cy="1589292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DEC22DE-110B-A85F-B32A-19B8864C5879}"/>
              </a:ext>
            </a:extLst>
          </p:cNvPr>
          <p:cNvGrpSpPr/>
          <p:nvPr/>
        </p:nvGrpSpPr>
        <p:grpSpPr>
          <a:xfrm>
            <a:off x="8529348" y="192878"/>
            <a:ext cx="1972398" cy="991732"/>
            <a:chOff x="3711463" y="624563"/>
            <a:chExt cx="2283645" cy="1141823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A5A8304-0D71-8BC4-01B9-9467581C6BFB}"/>
                </a:ext>
              </a:extLst>
            </p:cNvPr>
            <p:cNvSpPr/>
            <p:nvPr/>
          </p:nvSpPr>
          <p:spPr>
            <a:xfrm>
              <a:off x="4305299" y="635000"/>
              <a:ext cx="1080000" cy="10800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ADCF929-B2BB-DBCA-12C4-09C123EF005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11463" y="624563"/>
              <a:ext cx="2283645" cy="1141823"/>
            </a:xfrm>
            <a:prstGeom prst="rect">
              <a:avLst/>
            </a:prstGeom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AA7D9B4E-6C77-7312-35A0-9E1622D918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5562" y="255177"/>
            <a:ext cx="7158477" cy="8613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7AD552D-47DA-957E-C45B-1A8F7D3773D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4340" y="-1250548"/>
            <a:ext cx="3872787" cy="387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264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B3F6A5-B93C-DF60-C076-F042678E8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203DCF7-FC3F-2D1C-865A-607185AF97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D764EF8-FDD2-E68C-07C8-CDDF43B68F02}"/>
              </a:ext>
            </a:extLst>
          </p:cNvPr>
          <p:cNvSpPr/>
          <p:nvPr/>
        </p:nvSpPr>
        <p:spPr>
          <a:xfrm>
            <a:off x="0" y="-24279"/>
            <a:ext cx="12203912" cy="6917557"/>
          </a:xfrm>
          <a:prstGeom prst="rect">
            <a:avLst/>
          </a:prstGeom>
          <a:solidFill>
            <a:schemeClr val="dk1">
              <a:alpha val="88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8506B5-9297-8C05-0715-7FA87AD23B36}"/>
              </a:ext>
            </a:extLst>
          </p:cNvPr>
          <p:cNvSpPr txBox="1"/>
          <p:nvPr/>
        </p:nvSpPr>
        <p:spPr>
          <a:xfrm>
            <a:off x="420255" y="1818471"/>
            <a:ext cx="800937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>
                <a:solidFill>
                  <a:srgbClr val="FFFFFF"/>
                </a:solidFill>
                <a:latin typeface="Avenir Next LT Pro" panose="020B0504020202020204" pitchFamily="34" charset="0"/>
                <a:ea typeface="KaiTi" panose="020B0503020204020204" pitchFamily="49" charset="-122"/>
              </a:rPr>
              <a:t>Our Proposed Solution</a:t>
            </a:r>
            <a:endParaRPr lang="en-IN" sz="4400" dirty="0">
              <a:effectLst/>
              <a:latin typeface="Avenir Next LT Pro" panose="020B0504020202020204" pitchFamily="34" charset="0"/>
              <a:ea typeface="KaiTi" panose="020B0503020204020204" pitchFamily="49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663971-CAEC-49B8-F9F8-E0B401332613}"/>
              </a:ext>
            </a:extLst>
          </p:cNvPr>
          <p:cNvSpPr txBox="1"/>
          <p:nvPr/>
        </p:nvSpPr>
        <p:spPr>
          <a:xfrm>
            <a:off x="420255" y="2794251"/>
            <a:ext cx="53247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your idea?</a:t>
            </a:r>
          </a:p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does it solve the root cause?</a:t>
            </a:r>
          </a:p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makes your approach effective?</a:t>
            </a:r>
          </a:p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it incremental improvement or a new approach?</a:t>
            </a:r>
            <a:endParaRPr lang="en-IN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33D8B6-86CB-5EF9-0E29-64E8BC5E43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829"/>
          <a:stretch>
            <a:fillRect/>
          </a:stretch>
        </p:blipFill>
        <p:spPr>
          <a:xfrm>
            <a:off x="9386474" y="3295650"/>
            <a:ext cx="3717037" cy="3573414"/>
          </a:xfrm>
          <a:custGeom>
            <a:avLst/>
            <a:gdLst/>
            <a:ahLst/>
            <a:cxnLst/>
            <a:rect l="l" t="t" r="r" b="b"/>
            <a:pathLst>
              <a:path w="7128913" h="6853457">
                <a:moveTo>
                  <a:pt x="2343548" y="0"/>
                </a:moveTo>
                <a:lnTo>
                  <a:pt x="5168877" y="0"/>
                </a:lnTo>
                <a:lnTo>
                  <a:pt x="5218299" y="19487"/>
                </a:lnTo>
                <a:cubicBezTo>
                  <a:pt x="5976640" y="340238"/>
                  <a:pt x="6607722" y="902948"/>
                  <a:pt x="7014769" y="1610837"/>
                </a:cubicBezTo>
                <a:lnTo>
                  <a:pt x="7128913" y="1827198"/>
                </a:lnTo>
                <a:lnTo>
                  <a:pt x="7128913" y="5131581"/>
                </a:lnTo>
                <a:lnTo>
                  <a:pt x="7091067" y="5210750"/>
                </a:lnTo>
                <a:cubicBezTo>
                  <a:pt x="6744936" y="5876527"/>
                  <a:pt x="6205281" y="6425584"/>
                  <a:pt x="5546646" y="6783375"/>
                </a:cubicBezTo>
                <a:lnTo>
                  <a:pt x="5409811" y="6853457"/>
                </a:lnTo>
                <a:lnTo>
                  <a:pt x="2102613" y="6853457"/>
                </a:lnTo>
                <a:lnTo>
                  <a:pt x="1965779" y="6783375"/>
                </a:lnTo>
                <a:cubicBezTo>
                  <a:pt x="794873" y="6147301"/>
                  <a:pt x="0" y="4906735"/>
                  <a:pt x="0" y="3480517"/>
                </a:cubicBezTo>
                <a:cubicBezTo>
                  <a:pt x="0" y="1924643"/>
                  <a:pt x="945964" y="589711"/>
                  <a:pt x="2294125" y="19487"/>
                </a:cubicBezTo>
                <a:close/>
              </a:path>
            </a:pathLst>
          </a:cu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91A921F-3DE8-ECAE-32A6-FEF1DF4B6A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891" y="-146232"/>
            <a:ext cx="1697612" cy="1589292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CDB516CD-F414-4991-F3F4-222B10726416}"/>
              </a:ext>
            </a:extLst>
          </p:cNvPr>
          <p:cNvGrpSpPr/>
          <p:nvPr/>
        </p:nvGrpSpPr>
        <p:grpSpPr>
          <a:xfrm>
            <a:off x="8529348" y="192878"/>
            <a:ext cx="1972398" cy="991732"/>
            <a:chOff x="3711463" y="624563"/>
            <a:chExt cx="2283645" cy="1141823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613A9F6-60A4-5AEA-4C6B-259CB0099DCF}"/>
                </a:ext>
              </a:extLst>
            </p:cNvPr>
            <p:cNvSpPr/>
            <p:nvPr/>
          </p:nvSpPr>
          <p:spPr>
            <a:xfrm>
              <a:off x="4305299" y="635000"/>
              <a:ext cx="1080000" cy="10800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BA9FF35-9368-87CB-FC21-DC1AF74B223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11463" y="624563"/>
              <a:ext cx="2283645" cy="1141823"/>
            </a:xfrm>
            <a:prstGeom prst="rect">
              <a:avLst/>
            </a:prstGeom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BD6DAF9E-BD54-F9C5-52AE-7B0DCEB56F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5562" y="255177"/>
            <a:ext cx="7158477" cy="8613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33E9DE8-8873-7F17-70CC-50F95057062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4340" y="-1250548"/>
            <a:ext cx="3872787" cy="387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606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2F7CCB-43DF-E262-1DCE-469E8CA12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6CE0189-7293-68D1-D7CA-2270F563E82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925E3A7-CCAC-7797-A686-4FB60678E280}"/>
              </a:ext>
            </a:extLst>
          </p:cNvPr>
          <p:cNvSpPr/>
          <p:nvPr/>
        </p:nvSpPr>
        <p:spPr>
          <a:xfrm>
            <a:off x="0" y="-24279"/>
            <a:ext cx="12203912" cy="6917557"/>
          </a:xfrm>
          <a:prstGeom prst="rect">
            <a:avLst/>
          </a:prstGeom>
          <a:solidFill>
            <a:schemeClr val="dk1">
              <a:alpha val="88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CE2C84-4D1D-ED94-5375-28958E7590D2}"/>
              </a:ext>
            </a:extLst>
          </p:cNvPr>
          <p:cNvSpPr txBox="1"/>
          <p:nvPr/>
        </p:nvSpPr>
        <p:spPr>
          <a:xfrm>
            <a:off x="420254" y="1818471"/>
            <a:ext cx="1148599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Avenir Next LT Pro" panose="020B0504020202020204" pitchFamily="34" charset="0"/>
                <a:ea typeface="KaiTi" panose="020B0503020204020204" pitchFamily="49" charset="-122"/>
              </a:rPr>
              <a:t>How Our Solution Works (High-Level Approach)</a:t>
            </a:r>
            <a:endParaRPr lang="en-IN" sz="4400" dirty="0">
              <a:effectLst/>
              <a:latin typeface="Avenir Next LT Pro" panose="020B0504020202020204" pitchFamily="34" charset="0"/>
              <a:ea typeface="KaiTi" panose="020B0503020204020204" pitchFamily="49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83C170-29D6-63EB-1A9A-FB1A07328EBD}"/>
              </a:ext>
            </a:extLst>
          </p:cNvPr>
          <p:cNvSpPr txBox="1"/>
          <p:nvPr/>
        </p:nvSpPr>
        <p:spPr>
          <a:xfrm>
            <a:off x="420254" y="3386975"/>
            <a:ext cx="532476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 the overall workflow </a:t>
            </a:r>
          </a:p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user interaction </a:t>
            </a:r>
          </a:p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High-level architecture (if applicable)</a:t>
            </a:r>
          </a:p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you plan to use(No detailed coding required)</a:t>
            </a:r>
            <a:endParaRPr lang="en-IN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B1CE3A-D994-1010-3270-3DD7A89315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829"/>
          <a:stretch>
            <a:fillRect/>
          </a:stretch>
        </p:blipFill>
        <p:spPr>
          <a:xfrm>
            <a:off x="9386474" y="3295650"/>
            <a:ext cx="3717037" cy="3573414"/>
          </a:xfrm>
          <a:custGeom>
            <a:avLst/>
            <a:gdLst/>
            <a:ahLst/>
            <a:cxnLst/>
            <a:rect l="l" t="t" r="r" b="b"/>
            <a:pathLst>
              <a:path w="7128913" h="6853457">
                <a:moveTo>
                  <a:pt x="2343548" y="0"/>
                </a:moveTo>
                <a:lnTo>
                  <a:pt x="5168877" y="0"/>
                </a:lnTo>
                <a:lnTo>
                  <a:pt x="5218299" y="19487"/>
                </a:lnTo>
                <a:cubicBezTo>
                  <a:pt x="5976640" y="340238"/>
                  <a:pt x="6607722" y="902948"/>
                  <a:pt x="7014769" y="1610837"/>
                </a:cubicBezTo>
                <a:lnTo>
                  <a:pt x="7128913" y="1827198"/>
                </a:lnTo>
                <a:lnTo>
                  <a:pt x="7128913" y="5131581"/>
                </a:lnTo>
                <a:lnTo>
                  <a:pt x="7091067" y="5210750"/>
                </a:lnTo>
                <a:cubicBezTo>
                  <a:pt x="6744936" y="5876527"/>
                  <a:pt x="6205281" y="6425584"/>
                  <a:pt x="5546646" y="6783375"/>
                </a:cubicBezTo>
                <a:lnTo>
                  <a:pt x="5409811" y="6853457"/>
                </a:lnTo>
                <a:lnTo>
                  <a:pt x="2102613" y="6853457"/>
                </a:lnTo>
                <a:lnTo>
                  <a:pt x="1965779" y="6783375"/>
                </a:lnTo>
                <a:cubicBezTo>
                  <a:pt x="794873" y="6147301"/>
                  <a:pt x="0" y="4906735"/>
                  <a:pt x="0" y="3480517"/>
                </a:cubicBezTo>
                <a:cubicBezTo>
                  <a:pt x="0" y="1924643"/>
                  <a:pt x="945964" y="589711"/>
                  <a:pt x="2294125" y="19487"/>
                </a:cubicBezTo>
                <a:close/>
              </a:path>
            </a:pathLst>
          </a:cu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308190-B60F-B755-B216-BEF1E2B12B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891" y="-146232"/>
            <a:ext cx="1697612" cy="1589292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06F766A-4FFB-9CC0-423C-9065901BF462}"/>
              </a:ext>
            </a:extLst>
          </p:cNvPr>
          <p:cNvGrpSpPr/>
          <p:nvPr/>
        </p:nvGrpSpPr>
        <p:grpSpPr>
          <a:xfrm>
            <a:off x="8529348" y="192878"/>
            <a:ext cx="1972398" cy="991732"/>
            <a:chOff x="3711463" y="624563"/>
            <a:chExt cx="2283645" cy="1141823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AEB263C-CBD8-3E01-02F1-21F1D68A9439}"/>
                </a:ext>
              </a:extLst>
            </p:cNvPr>
            <p:cNvSpPr/>
            <p:nvPr/>
          </p:nvSpPr>
          <p:spPr>
            <a:xfrm>
              <a:off x="4305299" y="635000"/>
              <a:ext cx="1080000" cy="10800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58DB326-632F-8365-23C3-E804D8B1F2F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11463" y="624563"/>
              <a:ext cx="2283645" cy="1141823"/>
            </a:xfrm>
            <a:prstGeom prst="rect">
              <a:avLst/>
            </a:prstGeom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69EC8A56-4C28-9592-69A9-E85FDCCC8E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5562" y="255177"/>
            <a:ext cx="7158477" cy="8613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F210283-7118-632A-A4E8-CC97D572D87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4340" y="-1250548"/>
            <a:ext cx="3872787" cy="387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693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630178-D6E9-6119-76E1-C4DB70F07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ABC7215-495F-B59E-70E4-0D31A297F45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BA905E3-B5C2-E361-688E-0B261F2052F8}"/>
              </a:ext>
            </a:extLst>
          </p:cNvPr>
          <p:cNvSpPr/>
          <p:nvPr/>
        </p:nvSpPr>
        <p:spPr>
          <a:xfrm>
            <a:off x="0" y="-24279"/>
            <a:ext cx="12203912" cy="6917557"/>
          </a:xfrm>
          <a:prstGeom prst="rect">
            <a:avLst/>
          </a:prstGeom>
          <a:solidFill>
            <a:schemeClr val="dk1">
              <a:alpha val="88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7EBED6-86FD-990D-FE72-FF9BD7368B82}"/>
              </a:ext>
            </a:extLst>
          </p:cNvPr>
          <p:cNvSpPr txBox="1"/>
          <p:nvPr/>
        </p:nvSpPr>
        <p:spPr>
          <a:xfrm>
            <a:off x="420254" y="1818471"/>
            <a:ext cx="1148599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Avenir Next LT Pro" panose="020B0504020202020204" pitchFamily="34" charset="0"/>
                <a:ea typeface="KaiTi" panose="020B0503020204020204" pitchFamily="49" charset="-122"/>
              </a:rPr>
              <a:t> Key Features</a:t>
            </a:r>
            <a:endParaRPr lang="en-IN" sz="4400" dirty="0">
              <a:effectLst/>
              <a:latin typeface="Avenir Next LT Pro" panose="020B0504020202020204" pitchFamily="34" charset="0"/>
              <a:ea typeface="KaiTi" panose="020B0503020204020204" pitchFamily="49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9DB691-B989-06BD-B9ED-608C27934787}"/>
              </a:ext>
            </a:extLst>
          </p:cNvPr>
          <p:cNvSpPr txBox="1"/>
          <p:nvPr/>
        </p:nvSpPr>
        <p:spPr>
          <a:xfrm>
            <a:off x="544079" y="2775737"/>
            <a:ext cx="53247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feature 1</a:t>
            </a:r>
          </a:p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feature 2</a:t>
            </a:r>
          </a:p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feature 3</a:t>
            </a:r>
          </a:p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Unique feature (if any)Why these features matter</a:t>
            </a:r>
            <a:endParaRPr lang="en-IN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544A5A-15C1-A9E0-61BE-FDC2C7EC3A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829"/>
          <a:stretch>
            <a:fillRect/>
          </a:stretch>
        </p:blipFill>
        <p:spPr>
          <a:xfrm>
            <a:off x="9386474" y="3295650"/>
            <a:ext cx="3717037" cy="3573414"/>
          </a:xfrm>
          <a:custGeom>
            <a:avLst/>
            <a:gdLst/>
            <a:ahLst/>
            <a:cxnLst/>
            <a:rect l="l" t="t" r="r" b="b"/>
            <a:pathLst>
              <a:path w="7128913" h="6853457">
                <a:moveTo>
                  <a:pt x="2343548" y="0"/>
                </a:moveTo>
                <a:lnTo>
                  <a:pt x="5168877" y="0"/>
                </a:lnTo>
                <a:lnTo>
                  <a:pt x="5218299" y="19487"/>
                </a:lnTo>
                <a:cubicBezTo>
                  <a:pt x="5976640" y="340238"/>
                  <a:pt x="6607722" y="902948"/>
                  <a:pt x="7014769" y="1610837"/>
                </a:cubicBezTo>
                <a:lnTo>
                  <a:pt x="7128913" y="1827198"/>
                </a:lnTo>
                <a:lnTo>
                  <a:pt x="7128913" y="5131581"/>
                </a:lnTo>
                <a:lnTo>
                  <a:pt x="7091067" y="5210750"/>
                </a:lnTo>
                <a:cubicBezTo>
                  <a:pt x="6744936" y="5876527"/>
                  <a:pt x="6205281" y="6425584"/>
                  <a:pt x="5546646" y="6783375"/>
                </a:cubicBezTo>
                <a:lnTo>
                  <a:pt x="5409811" y="6853457"/>
                </a:lnTo>
                <a:lnTo>
                  <a:pt x="2102613" y="6853457"/>
                </a:lnTo>
                <a:lnTo>
                  <a:pt x="1965779" y="6783375"/>
                </a:lnTo>
                <a:cubicBezTo>
                  <a:pt x="794873" y="6147301"/>
                  <a:pt x="0" y="4906735"/>
                  <a:pt x="0" y="3480517"/>
                </a:cubicBezTo>
                <a:cubicBezTo>
                  <a:pt x="0" y="1924643"/>
                  <a:pt x="945964" y="589711"/>
                  <a:pt x="2294125" y="19487"/>
                </a:cubicBezTo>
                <a:close/>
              </a:path>
            </a:pathLst>
          </a:cu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120ECBF-356E-DE60-2FAC-BFAA2ECBB1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891" y="-146232"/>
            <a:ext cx="1697612" cy="1589292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C8372E06-07E3-07EC-CDF1-1295726DC84B}"/>
              </a:ext>
            </a:extLst>
          </p:cNvPr>
          <p:cNvGrpSpPr/>
          <p:nvPr/>
        </p:nvGrpSpPr>
        <p:grpSpPr>
          <a:xfrm>
            <a:off x="8529348" y="192878"/>
            <a:ext cx="1972398" cy="991732"/>
            <a:chOff x="3711463" y="624563"/>
            <a:chExt cx="2283645" cy="1141823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71870D4-D102-0134-8960-90E7FB29C018}"/>
                </a:ext>
              </a:extLst>
            </p:cNvPr>
            <p:cNvSpPr/>
            <p:nvPr/>
          </p:nvSpPr>
          <p:spPr>
            <a:xfrm>
              <a:off x="4305299" y="635000"/>
              <a:ext cx="1080000" cy="10800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37632EC-D783-7BE6-C56B-02DC3153537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11463" y="624563"/>
              <a:ext cx="2283645" cy="1141823"/>
            </a:xfrm>
            <a:prstGeom prst="rect">
              <a:avLst/>
            </a:prstGeom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7E5719DC-41D7-9520-C9D9-93F5E03618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5562" y="255177"/>
            <a:ext cx="7158477" cy="8613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248A929-2D3D-4E7C-5204-C5C9335F187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6252" y="-1250548"/>
            <a:ext cx="3872787" cy="387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123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05D15F-5B76-B917-7CB5-318DF271C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20ED841-B133-EFED-B0F9-800DFC91997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CD2899E-60A9-02DE-9B1F-07EF429F0FBF}"/>
              </a:ext>
            </a:extLst>
          </p:cNvPr>
          <p:cNvSpPr/>
          <p:nvPr/>
        </p:nvSpPr>
        <p:spPr>
          <a:xfrm>
            <a:off x="0" y="-24279"/>
            <a:ext cx="12203912" cy="6917557"/>
          </a:xfrm>
          <a:prstGeom prst="rect">
            <a:avLst/>
          </a:prstGeom>
          <a:solidFill>
            <a:schemeClr val="dk1">
              <a:alpha val="88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A205B9-8CE8-D38B-7381-7120BEE9BFCC}"/>
              </a:ext>
            </a:extLst>
          </p:cNvPr>
          <p:cNvSpPr txBox="1"/>
          <p:nvPr/>
        </p:nvSpPr>
        <p:spPr>
          <a:xfrm>
            <a:off x="420254" y="1818471"/>
            <a:ext cx="1148599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Avenir Next LT Pro" panose="020B0504020202020204" pitchFamily="34" charset="0"/>
                <a:ea typeface="KaiTi" panose="020B0503020204020204" pitchFamily="49" charset="-122"/>
              </a:rPr>
              <a:t>Feasibility &amp; Execution Plan</a:t>
            </a:r>
            <a:endParaRPr lang="en-IN" sz="4400" dirty="0">
              <a:effectLst/>
              <a:latin typeface="Avenir Next LT Pro" panose="020B0504020202020204" pitchFamily="34" charset="0"/>
              <a:ea typeface="KaiTi" panose="020B0503020204020204" pitchFamily="49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A509D3-3EBF-33B8-7D4D-A5F2409C8C46}"/>
              </a:ext>
            </a:extLst>
          </p:cNvPr>
          <p:cNvSpPr txBox="1"/>
          <p:nvPr/>
        </p:nvSpPr>
        <p:spPr>
          <a:xfrm>
            <a:off x="544078" y="2775737"/>
            <a:ext cx="64663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this realistically buildable during the hackathon?</a:t>
            </a:r>
          </a:p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will be included in the MVP?</a:t>
            </a:r>
          </a:p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Division of work among team members</a:t>
            </a:r>
          </a:p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Estimated timeline for development</a:t>
            </a:r>
            <a:endParaRPr lang="en-IN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59E127-DC9F-9026-CDEA-74605BC1B3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829"/>
          <a:stretch>
            <a:fillRect/>
          </a:stretch>
        </p:blipFill>
        <p:spPr>
          <a:xfrm>
            <a:off x="9386474" y="3295650"/>
            <a:ext cx="3717037" cy="3573414"/>
          </a:xfrm>
          <a:custGeom>
            <a:avLst/>
            <a:gdLst/>
            <a:ahLst/>
            <a:cxnLst/>
            <a:rect l="l" t="t" r="r" b="b"/>
            <a:pathLst>
              <a:path w="7128913" h="6853457">
                <a:moveTo>
                  <a:pt x="2343548" y="0"/>
                </a:moveTo>
                <a:lnTo>
                  <a:pt x="5168877" y="0"/>
                </a:lnTo>
                <a:lnTo>
                  <a:pt x="5218299" y="19487"/>
                </a:lnTo>
                <a:cubicBezTo>
                  <a:pt x="5976640" y="340238"/>
                  <a:pt x="6607722" y="902948"/>
                  <a:pt x="7014769" y="1610837"/>
                </a:cubicBezTo>
                <a:lnTo>
                  <a:pt x="7128913" y="1827198"/>
                </a:lnTo>
                <a:lnTo>
                  <a:pt x="7128913" y="5131581"/>
                </a:lnTo>
                <a:lnTo>
                  <a:pt x="7091067" y="5210750"/>
                </a:lnTo>
                <a:cubicBezTo>
                  <a:pt x="6744936" y="5876527"/>
                  <a:pt x="6205281" y="6425584"/>
                  <a:pt x="5546646" y="6783375"/>
                </a:cubicBezTo>
                <a:lnTo>
                  <a:pt x="5409811" y="6853457"/>
                </a:lnTo>
                <a:lnTo>
                  <a:pt x="2102613" y="6853457"/>
                </a:lnTo>
                <a:lnTo>
                  <a:pt x="1965779" y="6783375"/>
                </a:lnTo>
                <a:cubicBezTo>
                  <a:pt x="794873" y="6147301"/>
                  <a:pt x="0" y="4906735"/>
                  <a:pt x="0" y="3480517"/>
                </a:cubicBezTo>
                <a:cubicBezTo>
                  <a:pt x="0" y="1924643"/>
                  <a:pt x="945964" y="589711"/>
                  <a:pt x="2294125" y="19487"/>
                </a:cubicBezTo>
                <a:close/>
              </a:path>
            </a:pathLst>
          </a:cu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BA9223-FA60-891D-F24B-BF1B5C8FEE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891" y="-146232"/>
            <a:ext cx="1697612" cy="1589292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2768F2BA-FCDB-48E6-5678-0BDA33393268}"/>
              </a:ext>
            </a:extLst>
          </p:cNvPr>
          <p:cNvGrpSpPr/>
          <p:nvPr/>
        </p:nvGrpSpPr>
        <p:grpSpPr>
          <a:xfrm>
            <a:off x="8529348" y="192878"/>
            <a:ext cx="1972398" cy="991732"/>
            <a:chOff x="3711463" y="624563"/>
            <a:chExt cx="2283645" cy="1141823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1401527-30B6-A572-F5BE-CCF0EFCD56E0}"/>
                </a:ext>
              </a:extLst>
            </p:cNvPr>
            <p:cNvSpPr/>
            <p:nvPr/>
          </p:nvSpPr>
          <p:spPr>
            <a:xfrm>
              <a:off x="4305299" y="635000"/>
              <a:ext cx="1080000" cy="10800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D0C48B9-C36F-C3CF-6BB7-F2707C532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11463" y="624563"/>
              <a:ext cx="2283645" cy="1141823"/>
            </a:xfrm>
            <a:prstGeom prst="rect">
              <a:avLst/>
            </a:prstGeom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90546C83-4936-565D-423E-1476EAA7AE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5562" y="255177"/>
            <a:ext cx="7158477" cy="8613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0F62A35-1232-F4BD-E77F-B546422DF85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4340" y="-1250548"/>
            <a:ext cx="3872787" cy="387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4088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185E65-D456-225D-B474-595636646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94CF3FC-8575-CD31-D930-1CB1F5E78BF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2AA44FA-DA45-C772-40EC-47B2F35C2A1D}"/>
              </a:ext>
            </a:extLst>
          </p:cNvPr>
          <p:cNvSpPr/>
          <p:nvPr/>
        </p:nvSpPr>
        <p:spPr>
          <a:xfrm>
            <a:off x="0" y="-24279"/>
            <a:ext cx="12203912" cy="6917557"/>
          </a:xfrm>
          <a:prstGeom prst="rect">
            <a:avLst/>
          </a:prstGeom>
          <a:solidFill>
            <a:schemeClr val="dk1">
              <a:alpha val="88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94EA4F-41C5-12EE-5688-D165385EB4A5}"/>
              </a:ext>
            </a:extLst>
          </p:cNvPr>
          <p:cNvSpPr txBox="1"/>
          <p:nvPr/>
        </p:nvSpPr>
        <p:spPr>
          <a:xfrm>
            <a:off x="420254" y="1818471"/>
            <a:ext cx="1148599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Avenir Next LT Pro" panose="020B0504020202020204" pitchFamily="34" charset="0"/>
                <a:ea typeface="KaiTi" panose="020B0503020204020204" pitchFamily="49" charset="-122"/>
              </a:rPr>
              <a:t>Challenges &amp; Risk Mitigation</a:t>
            </a:r>
            <a:endParaRPr lang="en-IN" sz="4400" dirty="0">
              <a:effectLst/>
              <a:latin typeface="Avenir Next LT Pro" panose="020B0504020202020204" pitchFamily="34" charset="0"/>
              <a:ea typeface="KaiTi" panose="020B0503020204020204" pitchFamily="49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E1DAAE-DC34-F350-5063-359AC0A2CC14}"/>
              </a:ext>
            </a:extLst>
          </p:cNvPr>
          <p:cNvSpPr txBox="1"/>
          <p:nvPr/>
        </p:nvSpPr>
        <p:spPr>
          <a:xfrm>
            <a:off x="544078" y="2775737"/>
            <a:ext cx="64663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challenges might arise?</a:t>
            </a:r>
          </a:p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risks</a:t>
            </a:r>
          </a:p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Practical risks</a:t>
            </a:r>
          </a:p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will you handle them?</a:t>
            </a:r>
            <a:endParaRPr lang="en-IN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8E4B21-5AF5-9374-D097-F0FB7AB464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829"/>
          <a:stretch>
            <a:fillRect/>
          </a:stretch>
        </p:blipFill>
        <p:spPr>
          <a:xfrm>
            <a:off x="9386474" y="3295650"/>
            <a:ext cx="3717037" cy="3573414"/>
          </a:xfrm>
          <a:custGeom>
            <a:avLst/>
            <a:gdLst/>
            <a:ahLst/>
            <a:cxnLst/>
            <a:rect l="l" t="t" r="r" b="b"/>
            <a:pathLst>
              <a:path w="7128913" h="6853457">
                <a:moveTo>
                  <a:pt x="2343548" y="0"/>
                </a:moveTo>
                <a:lnTo>
                  <a:pt x="5168877" y="0"/>
                </a:lnTo>
                <a:lnTo>
                  <a:pt x="5218299" y="19487"/>
                </a:lnTo>
                <a:cubicBezTo>
                  <a:pt x="5976640" y="340238"/>
                  <a:pt x="6607722" y="902948"/>
                  <a:pt x="7014769" y="1610837"/>
                </a:cubicBezTo>
                <a:lnTo>
                  <a:pt x="7128913" y="1827198"/>
                </a:lnTo>
                <a:lnTo>
                  <a:pt x="7128913" y="5131581"/>
                </a:lnTo>
                <a:lnTo>
                  <a:pt x="7091067" y="5210750"/>
                </a:lnTo>
                <a:cubicBezTo>
                  <a:pt x="6744936" y="5876527"/>
                  <a:pt x="6205281" y="6425584"/>
                  <a:pt x="5546646" y="6783375"/>
                </a:cubicBezTo>
                <a:lnTo>
                  <a:pt x="5409811" y="6853457"/>
                </a:lnTo>
                <a:lnTo>
                  <a:pt x="2102613" y="6853457"/>
                </a:lnTo>
                <a:lnTo>
                  <a:pt x="1965779" y="6783375"/>
                </a:lnTo>
                <a:cubicBezTo>
                  <a:pt x="794873" y="6147301"/>
                  <a:pt x="0" y="4906735"/>
                  <a:pt x="0" y="3480517"/>
                </a:cubicBezTo>
                <a:cubicBezTo>
                  <a:pt x="0" y="1924643"/>
                  <a:pt x="945964" y="589711"/>
                  <a:pt x="2294125" y="19487"/>
                </a:cubicBezTo>
                <a:close/>
              </a:path>
            </a:pathLst>
          </a:cu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14FDCE-BB5F-C6C4-3801-7867781722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891" y="-146232"/>
            <a:ext cx="1697612" cy="1589292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5847193-E9AD-5EF3-28CB-34A10EDBC0BF}"/>
              </a:ext>
            </a:extLst>
          </p:cNvPr>
          <p:cNvGrpSpPr/>
          <p:nvPr/>
        </p:nvGrpSpPr>
        <p:grpSpPr>
          <a:xfrm>
            <a:off x="8529348" y="192878"/>
            <a:ext cx="1972398" cy="991732"/>
            <a:chOff x="3711463" y="624563"/>
            <a:chExt cx="2283645" cy="1141823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C9606B3-ABD8-4591-EF83-1EBC3C46202A}"/>
                </a:ext>
              </a:extLst>
            </p:cNvPr>
            <p:cNvSpPr/>
            <p:nvPr/>
          </p:nvSpPr>
          <p:spPr>
            <a:xfrm>
              <a:off x="4305299" y="635000"/>
              <a:ext cx="1080000" cy="10800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A851721-CE11-2F9D-092B-CCD5852B9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11463" y="624563"/>
              <a:ext cx="2283645" cy="1141823"/>
            </a:xfrm>
            <a:prstGeom prst="rect">
              <a:avLst/>
            </a:prstGeom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58057041-7145-3DC0-6005-FA8C5A5E45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5562" y="255177"/>
            <a:ext cx="7158477" cy="8613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DD940A8-8315-85F7-CDA4-873B074872B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4340" y="-1250548"/>
            <a:ext cx="3872787" cy="387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514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DEA308-F8EB-EAEB-784B-12A55F794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3051C5-4403-8E43-1E95-6957A159156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5A8F9AE-C8A5-A6E1-B7E6-3C9ABD5ADC9C}"/>
              </a:ext>
            </a:extLst>
          </p:cNvPr>
          <p:cNvSpPr/>
          <p:nvPr/>
        </p:nvSpPr>
        <p:spPr>
          <a:xfrm>
            <a:off x="0" y="-24279"/>
            <a:ext cx="12203912" cy="6917557"/>
          </a:xfrm>
          <a:prstGeom prst="rect">
            <a:avLst/>
          </a:prstGeom>
          <a:solidFill>
            <a:schemeClr val="dk1">
              <a:alpha val="88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57BBA8-E503-C7F5-83DD-CD8EE2A2ED64}"/>
              </a:ext>
            </a:extLst>
          </p:cNvPr>
          <p:cNvSpPr txBox="1"/>
          <p:nvPr/>
        </p:nvSpPr>
        <p:spPr>
          <a:xfrm>
            <a:off x="420254" y="1818471"/>
            <a:ext cx="1148599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Avenir Next LT Pro" panose="020B0504020202020204" pitchFamily="34" charset="0"/>
                <a:ea typeface="KaiTi" panose="020B0503020204020204" pitchFamily="49" charset="-122"/>
              </a:rPr>
              <a:t>Future Scope &amp; Scalability</a:t>
            </a:r>
            <a:endParaRPr lang="en-IN" sz="4400" dirty="0">
              <a:effectLst/>
              <a:latin typeface="Avenir Next LT Pro" panose="020B0504020202020204" pitchFamily="34" charset="0"/>
              <a:ea typeface="KaiTi" panose="020B0503020204020204" pitchFamily="49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E6925B-164A-D90F-7F9B-AA654072A531}"/>
              </a:ext>
            </a:extLst>
          </p:cNvPr>
          <p:cNvSpPr txBox="1"/>
          <p:nvPr/>
        </p:nvSpPr>
        <p:spPr>
          <a:xfrm>
            <a:off x="544078" y="2775737"/>
            <a:ext cx="646632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this solution be expanded further?</a:t>
            </a:r>
          </a:p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additional features can be added later?</a:t>
            </a:r>
          </a:p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Long-term potential of the solution</a:t>
            </a:r>
            <a:endParaRPr lang="en-IN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D11224-5A04-B08A-C113-9314B4EFAF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829"/>
          <a:stretch>
            <a:fillRect/>
          </a:stretch>
        </p:blipFill>
        <p:spPr>
          <a:xfrm>
            <a:off x="9386474" y="3295650"/>
            <a:ext cx="3717037" cy="3573414"/>
          </a:xfrm>
          <a:custGeom>
            <a:avLst/>
            <a:gdLst/>
            <a:ahLst/>
            <a:cxnLst/>
            <a:rect l="l" t="t" r="r" b="b"/>
            <a:pathLst>
              <a:path w="7128913" h="6853457">
                <a:moveTo>
                  <a:pt x="2343548" y="0"/>
                </a:moveTo>
                <a:lnTo>
                  <a:pt x="5168877" y="0"/>
                </a:lnTo>
                <a:lnTo>
                  <a:pt x="5218299" y="19487"/>
                </a:lnTo>
                <a:cubicBezTo>
                  <a:pt x="5976640" y="340238"/>
                  <a:pt x="6607722" y="902948"/>
                  <a:pt x="7014769" y="1610837"/>
                </a:cubicBezTo>
                <a:lnTo>
                  <a:pt x="7128913" y="1827198"/>
                </a:lnTo>
                <a:lnTo>
                  <a:pt x="7128913" y="5131581"/>
                </a:lnTo>
                <a:lnTo>
                  <a:pt x="7091067" y="5210750"/>
                </a:lnTo>
                <a:cubicBezTo>
                  <a:pt x="6744936" y="5876527"/>
                  <a:pt x="6205281" y="6425584"/>
                  <a:pt x="5546646" y="6783375"/>
                </a:cubicBezTo>
                <a:lnTo>
                  <a:pt x="5409811" y="6853457"/>
                </a:lnTo>
                <a:lnTo>
                  <a:pt x="2102613" y="6853457"/>
                </a:lnTo>
                <a:lnTo>
                  <a:pt x="1965779" y="6783375"/>
                </a:lnTo>
                <a:cubicBezTo>
                  <a:pt x="794873" y="6147301"/>
                  <a:pt x="0" y="4906735"/>
                  <a:pt x="0" y="3480517"/>
                </a:cubicBezTo>
                <a:cubicBezTo>
                  <a:pt x="0" y="1924643"/>
                  <a:pt x="945964" y="589711"/>
                  <a:pt x="2294125" y="19487"/>
                </a:cubicBezTo>
                <a:close/>
              </a:path>
            </a:pathLst>
          </a:cu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4AA9AAE-793A-F655-29E7-2FB4979A6A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891" y="-146232"/>
            <a:ext cx="1697612" cy="1589292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090D1939-96D8-AD72-6E6B-E159BB14FD6E}"/>
              </a:ext>
            </a:extLst>
          </p:cNvPr>
          <p:cNvGrpSpPr/>
          <p:nvPr/>
        </p:nvGrpSpPr>
        <p:grpSpPr>
          <a:xfrm>
            <a:off x="8529348" y="192878"/>
            <a:ext cx="1972398" cy="991732"/>
            <a:chOff x="3711463" y="624563"/>
            <a:chExt cx="2283645" cy="1141823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51614D8-35F2-4EB8-7D22-42A4B0454EB5}"/>
                </a:ext>
              </a:extLst>
            </p:cNvPr>
            <p:cNvSpPr/>
            <p:nvPr/>
          </p:nvSpPr>
          <p:spPr>
            <a:xfrm>
              <a:off x="4305299" y="635000"/>
              <a:ext cx="1080000" cy="10800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8D236BC-79A4-969B-BBFB-052B38690D0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11463" y="624563"/>
              <a:ext cx="2283645" cy="1141823"/>
            </a:xfrm>
            <a:prstGeom prst="rect">
              <a:avLst/>
            </a:prstGeom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59F58B6E-88BF-13EA-36C9-786C425075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5562" y="255177"/>
            <a:ext cx="7158477" cy="8613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1E9747F-6775-70CC-2124-2FF0F96C2F5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4340" y="-1250548"/>
            <a:ext cx="3872787" cy="387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2673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09ECE9-F5A3-E419-C3A3-5A04A1499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D8D72F6-5E1C-5FE0-6D76-FB26B55B024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8BEAEA7-49C7-8F10-C06E-F17C50DF1C59}"/>
              </a:ext>
            </a:extLst>
          </p:cNvPr>
          <p:cNvSpPr/>
          <p:nvPr/>
        </p:nvSpPr>
        <p:spPr>
          <a:xfrm>
            <a:off x="0" y="-24279"/>
            <a:ext cx="12203912" cy="6917557"/>
          </a:xfrm>
          <a:prstGeom prst="rect">
            <a:avLst/>
          </a:prstGeom>
          <a:solidFill>
            <a:schemeClr val="dk1">
              <a:alpha val="88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B75582-54D6-78DD-AD6B-12D945401C8B}"/>
              </a:ext>
            </a:extLst>
          </p:cNvPr>
          <p:cNvSpPr txBox="1"/>
          <p:nvPr/>
        </p:nvSpPr>
        <p:spPr>
          <a:xfrm>
            <a:off x="420254" y="1818471"/>
            <a:ext cx="1148599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Avenir Next LT Pro" panose="020B0504020202020204" pitchFamily="34" charset="0"/>
                <a:ea typeface="KaiTi" panose="020B0503020204020204" pitchFamily="49" charset="-122"/>
              </a:rPr>
              <a:t>Why Our Team?</a:t>
            </a:r>
            <a:endParaRPr lang="en-IN" sz="4400" dirty="0">
              <a:effectLst/>
              <a:latin typeface="Avenir Next LT Pro" panose="020B0504020202020204" pitchFamily="34" charset="0"/>
              <a:ea typeface="KaiTi" panose="020B0503020204020204" pitchFamily="49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9B1488-6917-F1B9-965A-502A031A875B}"/>
              </a:ext>
            </a:extLst>
          </p:cNvPr>
          <p:cNvSpPr txBox="1"/>
          <p:nvPr/>
        </p:nvSpPr>
        <p:spPr>
          <a:xfrm>
            <a:off x="544078" y="2775737"/>
            <a:ext cx="646632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Relevant skills of team members</a:t>
            </a:r>
          </a:p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Previous experience/projects</a:t>
            </a:r>
          </a:p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your team can execute this successfully</a:t>
            </a:r>
            <a:endParaRPr lang="en-IN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687383-C707-D5D0-A7A7-3F7106E6DB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829"/>
          <a:stretch>
            <a:fillRect/>
          </a:stretch>
        </p:blipFill>
        <p:spPr>
          <a:xfrm>
            <a:off x="9386474" y="3295650"/>
            <a:ext cx="3717037" cy="3573414"/>
          </a:xfrm>
          <a:custGeom>
            <a:avLst/>
            <a:gdLst/>
            <a:ahLst/>
            <a:cxnLst/>
            <a:rect l="l" t="t" r="r" b="b"/>
            <a:pathLst>
              <a:path w="7128913" h="6853457">
                <a:moveTo>
                  <a:pt x="2343548" y="0"/>
                </a:moveTo>
                <a:lnTo>
                  <a:pt x="5168877" y="0"/>
                </a:lnTo>
                <a:lnTo>
                  <a:pt x="5218299" y="19487"/>
                </a:lnTo>
                <a:cubicBezTo>
                  <a:pt x="5976640" y="340238"/>
                  <a:pt x="6607722" y="902948"/>
                  <a:pt x="7014769" y="1610837"/>
                </a:cubicBezTo>
                <a:lnTo>
                  <a:pt x="7128913" y="1827198"/>
                </a:lnTo>
                <a:lnTo>
                  <a:pt x="7128913" y="5131581"/>
                </a:lnTo>
                <a:lnTo>
                  <a:pt x="7091067" y="5210750"/>
                </a:lnTo>
                <a:cubicBezTo>
                  <a:pt x="6744936" y="5876527"/>
                  <a:pt x="6205281" y="6425584"/>
                  <a:pt x="5546646" y="6783375"/>
                </a:cubicBezTo>
                <a:lnTo>
                  <a:pt x="5409811" y="6853457"/>
                </a:lnTo>
                <a:lnTo>
                  <a:pt x="2102613" y="6853457"/>
                </a:lnTo>
                <a:lnTo>
                  <a:pt x="1965779" y="6783375"/>
                </a:lnTo>
                <a:cubicBezTo>
                  <a:pt x="794873" y="6147301"/>
                  <a:pt x="0" y="4906735"/>
                  <a:pt x="0" y="3480517"/>
                </a:cubicBezTo>
                <a:cubicBezTo>
                  <a:pt x="0" y="1924643"/>
                  <a:pt x="945964" y="589711"/>
                  <a:pt x="2294125" y="19487"/>
                </a:cubicBezTo>
                <a:close/>
              </a:path>
            </a:pathLst>
          </a:cu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47F7C22-E3ED-9F69-E2A0-FA562EFEC3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891" y="-146232"/>
            <a:ext cx="1697612" cy="1589292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474D825-BC3A-E224-408D-753A75E404F9}"/>
              </a:ext>
            </a:extLst>
          </p:cNvPr>
          <p:cNvGrpSpPr/>
          <p:nvPr/>
        </p:nvGrpSpPr>
        <p:grpSpPr>
          <a:xfrm>
            <a:off x="8529348" y="192878"/>
            <a:ext cx="1972398" cy="991732"/>
            <a:chOff x="3711463" y="624563"/>
            <a:chExt cx="2283645" cy="1141823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00D3DA0-057C-22A1-4A17-F8063DBF9B26}"/>
                </a:ext>
              </a:extLst>
            </p:cNvPr>
            <p:cNvSpPr/>
            <p:nvPr/>
          </p:nvSpPr>
          <p:spPr>
            <a:xfrm>
              <a:off x="4305299" y="635000"/>
              <a:ext cx="1080000" cy="10800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53E5E1B-DDA5-59F6-98FF-BA96CB681B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11463" y="624563"/>
              <a:ext cx="2283645" cy="1141823"/>
            </a:xfrm>
            <a:prstGeom prst="rect">
              <a:avLst/>
            </a:prstGeom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7FFC7A52-B438-4C37-1226-ED25A91EA3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5562" y="255177"/>
            <a:ext cx="7158477" cy="8613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DBCB011-A50E-608E-E3BA-79AC7BEC0BE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4340" y="-1265433"/>
            <a:ext cx="3872787" cy="387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971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320</Words>
  <Application>Microsoft Office PowerPoint</Application>
  <PresentationFormat>Widescreen</PresentationFormat>
  <Paragraphs>59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Avenir Next LT Pro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ABHINAV KUMAR (RA2411003010993)</dc:creator>
  <cp:lastModifiedBy>ABHINAV KUMAR (RA2411003010993)</cp:lastModifiedBy>
  <cp:revision>4</cp:revision>
  <dcterms:created xsi:type="dcterms:W3CDTF">2026-02-24T13:56:33Z</dcterms:created>
  <dcterms:modified xsi:type="dcterms:W3CDTF">2026-02-24T15:49:53Z</dcterms:modified>
</cp:coreProperties>
</file>